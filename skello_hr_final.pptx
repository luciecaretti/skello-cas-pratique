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" y="8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eNPS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E61-46A9-85A6-82BE85760925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61-46A9-85A6-82BE85760925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E61-46A9-85A6-82BE85760925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E61-46A9-85A6-82BE85760925}"/>
              </c:ext>
            </c:extLst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E61-46A9-85A6-82BE85760925}"/>
              </c:ext>
            </c:extLst>
          </c:dPt>
          <c:dPt>
            <c:idx val="5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E61-46A9-85A6-82BE85760925}"/>
              </c:ext>
            </c:extLst>
          </c:dPt>
          <c:dPt>
            <c:idx val="6"/>
            <c:invertIfNegative val="0"/>
            <c:bubble3D val="0"/>
            <c:spPr>
              <a:solidFill>
                <a:srgbClr val="4338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E61-46A9-85A6-82BE857609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AE Espagne</c:v>
                </c:pt>
                <c:pt idx="1">
                  <c:v>AE France</c:v>
                </c:pt>
                <c:pt idx="2">
                  <c:v>BDR FR</c:v>
                </c:pt>
                <c:pt idx="3">
                  <c:v>Ops/AM</c:v>
                </c:pt>
                <c:pt idx="4">
                  <c:v>Tech</c:v>
                </c:pt>
                <c:pt idx="5">
                  <c:v>Marketing</c:v>
                </c:pt>
                <c:pt idx="6">
                  <c:v>BDR ESP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-36</c:v>
                </c:pt>
                <c:pt idx="1">
                  <c:v>-18</c:v>
                </c:pt>
                <c:pt idx="2">
                  <c:v>-4</c:v>
                </c:pt>
                <c:pt idx="3">
                  <c:v>17</c:v>
                </c:pt>
                <c:pt idx="4">
                  <c:v>17</c:v>
                </c:pt>
                <c:pt idx="5">
                  <c:v>14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E61-46A9-85A6-82BE857609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BEAF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6A0-4821-8196-120A58C13024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A0-4821-8196-120A58C13024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A0-4821-8196-120A58C1302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A0-4821-8196-120A58C1302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A0-4821-8196-120A58C1302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A0-4821-8196-120A58C1302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Promoteurs (27%)</c:v>
                </c:pt>
                <c:pt idx="1">
                  <c:v>Passifs (48%)</c:v>
                </c:pt>
                <c:pt idx="2">
                  <c:v>Détracteurs (25%)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48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6A0-4821-8196-120A58C13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26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132320" y="2560320"/>
            <a:ext cx="2926080" cy="2926080"/>
          </a:xfrm>
          <a:prstGeom prst="ellipse">
            <a:avLst/>
          </a:prstGeom>
          <a:solidFill>
            <a:srgbClr val="4338CA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0" y="3474720"/>
            <a:ext cx="1828800" cy="1828800"/>
          </a:xfrm>
          <a:prstGeom prst="ellipse">
            <a:avLst/>
          </a:prstGeom>
          <a:solidFill>
            <a:srgbClr val="93C5FD">
              <a:alpha val="1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201168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Pratique- Lucie CARETTI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938528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Project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5600" dirty="0"/>
          </a:p>
        </p:txBody>
      </p:sp>
      <p:sp>
        <p:nvSpPr>
          <p:cNvPr id="9" name="Shape 6"/>
          <p:cNvSpPr/>
          <p:nvPr/>
        </p:nvSpPr>
        <p:spPr>
          <a:xfrm>
            <a:off x="457200" y="3858768"/>
            <a:ext cx="201168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Survey  ·  Mobilité internationale  ·  Career Path Ops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572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SOMMAIRE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1572768"/>
            <a:ext cx="2651760" cy="324612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11480" y="1572768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9436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Survey Q2 2025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3108960"/>
            <a:ext cx="2286000" cy="18288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94360" y="32186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· 3 forces · 3 axes · Plan d'action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91840" y="1572768"/>
            <a:ext cx="2651760" cy="3246120"/>
          </a:xfrm>
          <a:prstGeom prst="rect">
            <a:avLst/>
          </a:prstGeom>
          <a:solidFill>
            <a:srgbClr val="EEF2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291840" y="1572768"/>
            <a:ext cx="2651760" cy="54864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3474720" y="1783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347472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FR ↔ ESP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74720" y="3108960"/>
            <a:ext cx="2286000" cy="18288"/>
          </a:xfrm>
          <a:prstGeom prst="rect">
            <a:avLst/>
          </a:prstGeom>
          <a:solidFill>
            <a:srgbClr val="4338CA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3474720" y="32186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· Cadre · Parcours collaborateur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200" y="1572768"/>
            <a:ext cx="2651760" cy="3246120"/>
          </a:xfrm>
          <a:prstGeom prst="rect">
            <a:avLst/>
          </a:prstGeom>
          <a:solidFill>
            <a:srgbClr val="F0F9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6172200" y="1572768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355080" y="17830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635508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Opérations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355080" y="3108960"/>
            <a:ext cx="2286000" cy="18288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355080" y="32186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· Proposition · Déploiement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1 — PULSE SURVEY Q2 2025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répondants sur ~400 collaborateurs (56%) — Paris &amp; Barcelone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481328"/>
            <a:ext cx="2651760" cy="135331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11480" y="1481328"/>
            <a:ext cx="2651760" cy="640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48640" y="1627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54864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eNPS global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496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Légèrement positif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1481328"/>
            <a:ext cx="2651760" cy="1353312"/>
          </a:xfrm>
          <a:prstGeom prst="rect">
            <a:avLst/>
          </a:prstGeom>
          <a:solidFill>
            <a:srgbClr val="FFFBEB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291840" y="1481328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3429000" y="1627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342900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Passifs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29000" y="2496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point d'alerte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72200" y="1481328"/>
            <a:ext cx="2651760" cy="1353312"/>
          </a:xfrm>
          <a:prstGeom prst="rect">
            <a:avLst/>
          </a:prstGeom>
          <a:solidFill>
            <a:srgbClr val="FEF2F2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6172200" y="1481328"/>
            <a:ext cx="265176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309360" y="16276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30936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Détracteurs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09360" y="2496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Concentrés équipes Sales</a:t>
            </a:r>
            <a:endParaRPr lang="en-US" sz="95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4253491201"/>
              </p:ext>
            </p:extLst>
          </p:nvPr>
        </p:nvGraphicFramePr>
        <p:xfrm>
          <a:off x="411480" y="2898648"/>
          <a:ext cx="4904685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411480" y="2834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</a:rPr>
              <a:t>eNPS par équipe</a:t>
            </a:r>
            <a:endParaRPr lang="en-US" sz="1100" dirty="0"/>
          </a:p>
        </p:txBody>
      </p:sp>
      <p:graphicFrame>
        <p:nvGraphicFramePr>
          <p:cNvPr id="25" name="Chart 1"/>
          <p:cNvGraphicFramePr/>
          <p:nvPr>
            <p:extLst>
              <p:ext uri="{D42A27DB-BD31-4B8C-83A1-F6EECF244321}">
                <p14:modId xmlns:p14="http://schemas.microsoft.com/office/powerpoint/2010/main" val="4281265871"/>
              </p:ext>
            </p:extLst>
          </p:nvPr>
        </p:nvGraphicFramePr>
        <p:xfrm>
          <a:off x="5440680" y="2898648"/>
          <a:ext cx="32918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Text 21"/>
          <p:cNvSpPr/>
          <p:nvPr/>
        </p:nvSpPr>
        <p:spPr>
          <a:xfrm>
            <a:off x="5440680" y="2834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</a:rPr>
              <a:t>Répartition eNPS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1 — PULSE SURVEY Q2 2025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Forces identifiées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1389888"/>
            <a:ext cx="2651760" cy="3547872"/>
          </a:xfrm>
          <a:prstGeom prst="rect">
            <a:avLst/>
          </a:prstGeom>
          <a:solidFill>
            <a:srgbClr val="ECFDF5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265176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417320" y="157276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164592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" y="23042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travail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05840" y="2798064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100584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4,18 / 5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" y="3328416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758952" y="327355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Ambiance &amp; relations saines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" y="380390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758952" y="37490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clé en hypercroissance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" y="427939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758952" y="42245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#1 du survey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91840" y="1389888"/>
            <a:ext cx="2651760" cy="354787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3291840" y="1389888"/>
            <a:ext cx="2651760" cy="640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4297680" y="157276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1645920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56432" y="23042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 des objectifs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886200" y="2798064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388620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3,67 / 5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3493008" y="332841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/>
          <p:nvPr/>
        </p:nvSpPr>
        <p:spPr>
          <a:xfrm>
            <a:off x="3639312" y="327355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 alignés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493008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3639312" y="37490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niveau d'exécution global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493008" y="427939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3639312" y="42245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côté équipes Sales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72200" y="1389888"/>
            <a:ext cx="2651760" cy="3547872"/>
          </a:xfrm>
          <a:prstGeom prst="rect">
            <a:avLst/>
          </a:prstGeom>
          <a:solidFill>
            <a:srgbClr val="EEF2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9"/>
          <p:cNvSpPr/>
          <p:nvPr/>
        </p:nvSpPr>
        <p:spPr>
          <a:xfrm>
            <a:off x="6172200" y="1389888"/>
            <a:ext cx="2651760" cy="64008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0"/>
          <p:cNvSpPr/>
          <p:nvPr/>
        </p:nvSpPr>
        <p:spPr>
          <a:xfrm>
            <a:off x="7178040" y="157276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1645920"/>
            <a:ext cx="475488" cy="47548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336792" y="23042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6766560" y="2798064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3"/>
          <p:cNvSpPr/>
          <p:nvPr/>
        </p:nvSpPr>
        <p:spPr>
          <a:xfrm>
            <a:off x="676656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</a:rPr>
              <a:t>3,64 / 5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6373368" y="3328416"/>
            <a:ext cx="91440" cy="914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5"/>
          <p:cNvSpPr/>
          <p:nvPr/>
        </p:nvSpPr>
        <p:spPr>
          <a:xfrm>
            <a:off x="6519672" y="327355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Perçues positivement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373368" y="3803904"/>
            <a:ext cx="91440" cy="914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7"/>
          <p:cNvSpPr/>
          <p:nvPr/>
        </p:nvSpPr>
        <p:spPr>
          <a:xfrm>
            <a:off x="6519672" y="37490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de rétention actif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6373368" y="4279392"/>
            <a:ext cx="91440" cy="91440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39"/>
          <p:cNvSpPr/>
          <p:nvPr/>
        </p:nvSpPr>
        <p:spPr>
          <a:xfrm>
            <a:off x="6519672" y="422452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mentions — sujet sensible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1 — PULSE SURVEY Q2 2025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Axes d'amélioration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1389888"/>
            <a:ext cx="2651760" cy="3547872"/>
          </a:xfrm>
          <a:prstGeom prst="rect">
            <a:avLst/>
          </a:prstGeom>
          <a:solidFill>
            <a:srgbClr val="FEF2F2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2651760" cy="640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1417320" y="157276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164592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" y="23042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 travail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05840" y="2798064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100584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3,45 / 5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" y="3328416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758952" y="32735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le plus bas du survey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" y="371246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758952" y="36576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de réponses négatives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" y="409651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758952" y="40416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&amp; stress (90 mentions)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" y="448056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758952" y="44256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turnover élevé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291840" y="1389888"/>
            <a:ext cx="2651760" cy="3547872"/>
          </a:xfrm>
          <a:prstGeom prst="rect">
            <a:avLst/>
          </a:prstGeom>
          <a:solidFill>
            <a:srgbClr val="FFFBEB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3291840" y="1389888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4297680" y="157276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1645920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456432" y="23042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3886200" y="2798064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/>
          <p:nvPr/>
        </p:nvSpPr>
        <p:spPr>
          <a:xfrm>
            <a:off x="388620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3,62 / 5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493008" y="332841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3639312" y="32735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mentions verbatims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493008" y="371246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3639312" y="36576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Invisibilité, pas maltraitance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493008" y="40965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9"/>
          <p:cNvSpPr/>
          <p:nvPr/>
        </p:nvSpPr>
        <p:spPr>
          <a:xfrm>
            <a:off x="3639312" y="40416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Démotivation sous pression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3493008" y="448056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1"/>
          <p:cNvSpPr/>
          <p:nvPr/>
        </p:nvSpPr>
        <p:spPr>
          <a:xfrm>
            <a:off x="3639312" y="44256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sous-exploité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172200" y="1389888"/>
            <a:ext cx="2651760" cy="354787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3"/>
          <p:cNvSpPr/>
          <p:nvPr/>
        </p:nvSpPr>
        <p:spPr>
          <a:xfrm>
            <a:off x="6172200" y="1389888"/>
            <a:ext cx="2651760" cy="640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4"/>
          <p:cNvSpPr/>
          <p:nvPr/>
        </p:nvSpPr>
        <p:spPr>
          <a:xfrm>
            <a:off x="7178040" y="1572768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1645920"/>
            <a:ext cx="475488" cy="4754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336792" y="23042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6766560" y="2798064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37"/>
          <p:cNvSpPr/>
          <p:nvPr/>
        </p:nvSpPr>
        <p:spPr>
          <a:xfrm>
            <a:off x="6766560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Variable</a:t>
            </a:r>
            <a:endParaRPr lang="en-US" sz="1300" dirty="0"/>
          </a:p>
        </p:txBody>
      </p:sp>
      <p:sp>
        <p:nvSpPr>
          <p:cNvPr id="44" name="Shape 38"/>
          <p:cNvSpPr/>
          <p:nvPr/>
        </p:nvSpPr>
        <p:spPr>
          <a:xfrm>
            <a:off x="6373368" y="332841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39"/>
          <p:cNvSpPr/>
          <p:nvPr/>
        </p:nvSpPr>
        <p:spPr>
          <a:xfrm>
            <a:off x="6519672" y="32735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#1 — 104 mentions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373368" y="37124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1"/>
          <p:cNvSpPr/>
          <p:nvPr/>
        </p:nvSpPr>
        <p:spPr>
          <a:xfrm>
            <a:off x="6519672" y="36576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Hétérogène selon équipes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6373368" y="409651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3"/>
          <p:cNvSpPr/>
          <p:nvPr/>
        </p:nvSpPr>
        <p:spPr>
          <a:xfrm>
            <a:off x="6519672" y="404164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Tech/Marketing : structurant ✓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373368" y="44805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5"/>
          <p:cNvSpPr/>
          <p:nvPr/>
        </p:nvSpPr>
        <p:spPr>
          <a:xfrm>
            <a:off x="6519672" y="44256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Sales/Ops : manque d'appui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1 — PLAN D'ACTION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— 3 chantiers prioritaires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1444752"/>
            <a:ext cx="2651760" cy="3401568"/>
          </a:xfrm>
          <a:prstGeom prst="rect">
            <a:avLst/>
          </a:prstGeom>
          <a:solidFill>
            <a:srgbClr val="FEF2F2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11480" y="1444752"/>
            <a:ext cx="2651760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76072" y="14447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05840" y="144475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Reprendre le contrôle de la charge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" y="2212848"/>
            <a:ext cx="64008" cy="2743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40664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équipe par équipe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" y="2715768"/>
            <a:ext cx="64008" cy="2743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740664" y="26791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direction : priorisation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" y="3218688"/>
            <a:ext cx="64008" cy="2743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40664" y="3182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Renfort ou réallocation interne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" y="3721608"/>
            <a:ext cx="64008" cy="2743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40664" y="3685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Enlever, pas juste optimiser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91840" y="1444752"/>
            <a:ext cx="2651760" cy="3401568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291840" y="1444752"/>
            <a:ext cx="2651760" cy="5486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456432" y="14447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886200" y="144475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Renforcer le rôle des managers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493008" y="2212848"/>
            <a:ext cx="64008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3621024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réguliers &amp; feedback structuré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493008" y="2715768"/>
            <a:ext cx="64008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3621024" y="26791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sur compétences clés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493008" y="3218688"/>
            <a:ext cx="64008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621024" y="3182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Tutorat interne &amp; référent RH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493008" y="3721608"/>
            <a:ext cx="64008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3621024" y="3685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outillés = tensions maîtrisées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72200" y="1444752"/>
            <a:ext cx="2651760" cy="3401568"/>
          </a:xfrm>
          <a:prstGeom prst="rect">
            <a:avLst/>
          </a:prstGeom>
          <a:solidFill>
            <a:srgbClr val="EEF2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172200" y="1444752"/>
            <a:ext cx="2651760" cy="54864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6336792" y="144475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766560" y="1444752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Clarifier les parcours d'évolution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373368" y="2212848"/>
            <a:ext cx="64008" cy="2743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6501384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lisible Sales &amp; Ops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373368" y="2715768"/>
            <a:ext cx="64008" cy="2743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6501384" y="26791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&amp; timing explicites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373368" y="3218688"/>
            <a:ext cx="64008" cy="2743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6501384" y="3182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vs. managérial distincts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373368" y="3721608"/>
            <a:ext cx="64008" cy="2743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6501384" y="3685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performance &amp; rétention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530352" y="468172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Partager les résultats · Impliquer les équipes · Tester, ajuster, avancer ensemble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1 — PLAN D'ACTION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— Court terme vs structurel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1389888"/>
            <a:ext cx="3931920" cy="3493008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3931920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94360" y="13898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Quick wins — 30 jours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2121408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04672" y="2057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résultats du survey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23042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all-hands — transparence totale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2779776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804672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les équipes en tension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" y="29626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ESP &amp; FR en priorité absolue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" y="3438144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804672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1er kit feedback manager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simple, 2 semaines de déploiement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4360" y="4096512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804672" y="4032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des Q&amp;A par équipe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" y="4279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de parole pour éviter les rumeurs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800600" y="1389888"/>
            <a:ext cx="3931920" cy="3493008"/>
          </a:xfrm>
          <a:prstGeom prst="rect">
            <a:avLst/>
          </a:prstGeom>
          <a:solidFill>
            <a:srgbClr val="EEF2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800600" y="1389888"/>
            <a:ext cx="3931920" cy="50292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983480" y="13898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  Actions structurelles — 3-6 mois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983480" y="2121408"/>
            <a:ext cx="118872" cy="118872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193792" y="2057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formation managers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93792" y="23042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gestion de charge, accompagnement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983480" y="2779776"/>
            <a:ext cx="118872" cy="118872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193792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lisible Sales &amp; Ops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193792" y="29626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Critères, niveaux, timing — visible par tous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983480" y="3438144"/>
            <a:ext cx="118872" cy="118872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193792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priorités business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19379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direction sur la charge réelle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983480" y="4096512"/>
            <a:ext cx="118872" cy="118872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5193792" y="4032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 pulse survey Q3 2025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93792" y="4279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d'évolution et ajustement du plan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2 — MOBILITÉ FRANCE ↔ ESPAGNE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identifiée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mobilités traitées au cas par cas, sans cadre formalisé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3931920" cy="3493008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11480" y="1389888"/>
            <a:ext cx="3931920" cy="475488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94360" y="1389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Situation actuelle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084832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77240" y="20299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Grilles salariales distinctes France / Espagne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2670048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777240" y="26151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Mobilité FR → ESP = baisse de 10 à 20%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" y="325526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777240" y="3200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cas traité sans règle définie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" y="3840480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777240" y="378561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perçues comme arbitraires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61688" y="2852928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361688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800600" y="1389888"/>
            <a:ext cx="3931920" cy="3493008"/>
          </a:xfrm>
          <a:prstGeom prst="rect">
            <a:avLst/>
          </a:prstGeom>
          <a:solidFill>
            <a:srgbClr val="EEF2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800600" y="1389888"/>
            <a:ext cx="3931920" cy="4754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983480" y="1389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Enjeux RH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983480" y="2084832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166360" y="202996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Équité de traitement entre collaborateurs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983480" y="2670048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166360" y="261518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 de la mobilité comme levier carrière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83480" y="3255264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166360" y="3200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juridique &amp; relationnel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83480" y="3840480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166360" y="378561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des career paths entre entités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2 — CADRE DE MOBILITÉ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proposé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mécanismes de transition selon l'écart salarial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2029968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11480" y="13898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P1  Équité interne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87752" y="1389888"/>
            <a:ext cx="2029968" cy="4572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587752" y="13898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P2  Ancrage marché local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64024" y="1389888"/>
            <a:ext cx="2029968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764024" y="13898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P3  Protection collaborateur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40296" y="1389888"/>
            <a:ext cx="2029968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940296" y="13898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P4  Transparence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1480" y="1993392"/>
            <a:ext cx="2651760" cy="2816352"/>
          </a:xfrm>
          <a:prstGeom prst="rect">
            <a:avLst/>
          </a:prstGeom>
          <a:solidFill>
            <a:srgbClr val="ECFDF5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11480" y="1993392"/>
            <a:ext cx="2651760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48640" y="1993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 1  ·  &lt; 10%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2578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direct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304495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faible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immédiate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salaire cible pays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91840" y="1993392"/>
            <a:ext cx="2651760" cy="2816352"/>
          </a:xfrm>
          <a:prstGeom prst="rect">
            <a:avLst/>
          </a:prstGeom>
          <a:solidFill>
            <a:srgbClr val="FFFBEB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3291840" y="1993392"/>
            <a:ext cx="2651760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3429000" y="1993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 2  ·  10–20%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29000" y="2578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progressive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429000" y="304495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Maintien 6 mois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Descente graduelle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salaire cible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72200" y="1993392"/>
            <a:ext cx="2651760" cy="2816352"/>
          </a:xfrm>
          <a:prstGeom prst="rect">
            <a:avLst/>
          </a:prstGeom>
          <a:solidFill>
            <a:srgbClr val="FEF2F2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6172200" y="1993392"/>
            <a:ext cx="2651760" cy="4754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6309360" y="1993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Cas 3  ·  &gt; 20%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309360" y="25786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de mobilité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09360" y="3044952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à –15%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compensatoire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12 mois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30352" y="46817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Référentiel commun de niveaux L1–L6 · Même rôle quel que soit le pays · Seule la rémunération varie selon le marché local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2 — PARCOURS COLLABORATEUR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mobilité en 7 étapes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1097280" cy="272491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758952" y="16276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75895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" y="22128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" y="2651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visible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399032" y="2304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645920" y="1463040"/>
            <a:ext cx="1097280" cy="272491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1645920" y="146304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1947672" y="16276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194767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73352" y="22128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673352" y="2651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l'intention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87752" y="2304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2834640" y="1463040"/>
            <a:ext cx="1097280" cy="272491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2834640" y="146304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3136392" y="16276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313639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862072" y="22128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862072" y="2651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chiffré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surprise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776472" y="2304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023360" y="1463040"/>
            <a:ext cx="1097280" cy="2724912"/>
          </a:xfrm>
          <a:prstGeom prst="rect">
            <a:avLst/>
          </a:prstGeom>
          <a:solidFill>
            <a:srgbClr val="EEF2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4023360" y="1463040"/>
            <a:ext cx="1097280" cy="54864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4325112" y="1627632"/>
            <a:ext cx="493776" cy="493776"/>
          </a:xfrm>
          <a:prstGeom prst="ellipse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432511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050792" y="22128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terrain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050792" y="2651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dans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 d'accueil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965192" y="2304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›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212080" y="1463040"/>
            <a:ext cx="1097280" cy="272491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5212080" y="146304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5513832" y="16276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551383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239512" y="22128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239512" y="2651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· Manager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Finance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153912" y="2304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›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6400800" y="1463040"/>
            <a:ext cx="1097280" cy="272491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0"/>
          <p:cNvSpPr/>
          <p:nvPr/>
        </p:nvSpPr>
        <p:spPr>
          <a:xfrm>
            <a:off x="6400800" y="146304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1"/>
          <p:cNvSpPr/>
          <p:nvPr/>
        </p:nvSpPr>
        <p:spPr>
          <a:xfrm>
            <a:off x="6702552" y="16276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670255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428232" y="22128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428232" y="2651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342632" y="2304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›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7589520" y="1463040"/>
            <a:ext cx="1097280" cy="272491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7"/>
          <p:cNvSpPr/>
          <p:nvPr/>
        </p:nvSpPr>
        <p:spPr>
          <a:xfrm>
            <a:off x="7589520" y="1463040"/>
            <a:ext cx="109728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8"/>
          <p:cNvSpPr/>
          <p:nvPr/>
        </p:nvSpPr>
        <p:spPr>
          <a:xfrm>
            <a:off x="7891272" y="1627632"/>
            <a:ext cx="493776" cy="49377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49"/>
          <p:cNvSpPr/>
          <p:nvPr/>
        </p:nvSpPr>
        <p:spPr>
          <a:xfrm>
            <a:off x="7891272" y="1627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7616952" y="2212848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7616952" y="26517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RH 3 mois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11480" y="4315968"/>
            <a:ext cx="8321040" cy="62179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53"/>
          <p:cNvSpPr/>
          <p:nvPr/>
        </p:nvSpPr>
        <p:spPr>
          <a:xfrm>
            <a:off x="411480" y="4315968"/>
            <a:ext cx="91440" cy="6217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4"/>
          <p:cNvSpPr/>
          <p:nvPr/>
        </p:nvSpPr>
        <p:spPr>
          <a:xfrm>
            <a:off x="594360" y="4352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Séminaire annuel France × Espagne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94360" y="46268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retours d'expérience · Témoignages mobilité · Échanges par métier (Sales, Ops…)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3 — CAREER PATH OPÉRATIONS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— Le décalage à adresser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" y="1188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personnes · 18 mois d'évolution rapide · 2 départs seniors récents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3931920" cy="4114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11480" y="1389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THÉORIE — Grille actuelle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389888"/>
            <a:ext cx="393192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800600" y="1389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RÉALITÉ — Terrain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181965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800600" y="181965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66928" y="18653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nombreux (I, II, III…)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9976" y="1892808"/>
            <a:ext cx="329184" cy="329184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379976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56048" y="18653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peu lisibles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2350008"/>
            <a:ext cx="3931920" cy="512064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800600" y="2350008"/>
            <a:ext cx="3931920" cy="512064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566928" y="23957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structurée &amp; définie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79976" y="2423160"/>
            <a:ext cx="329184" cy="329184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4379976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56048" y="23957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 d'évolution floue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11480" y="2880360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4800600" y="2880360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66928" y="29260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définie par niveau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79976" y="2953512"/>
            <a:ext cx="329184" cy="329184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379976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56048" y="29260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perçue comme arbitraire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1480" y="3410712"/>
            <a:ext cx="3931920" cy="512064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4800600" y="3410712"/>
            <a:ext cx="3931920" cy="512064"/>
          </a:xfrm>
          <a:prstGeom prst="rect">
            <a:avLst/>
          </a:prstGeom>
          <a:solidFill>
            <a:srgbClr val="F0F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566928" y="34564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implicites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379976" y="3483864"/>
            <a:ext cx="329184" cy="329184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4379976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956048" y="34564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transparence sur les attentes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11480" y="3941064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4800600" y="3941064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566928" y="39867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unique pour tous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379976" y="4014216"/>
            <a:ext cx="329184" cy="329184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4379976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956048" y="39867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Métiers Ops très différents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11480" y="4507992"/>
            <a:ext cx="8321040" cy="402336"/>
          </a:xfrm>
          <a:prstGeom prst="rect">
            <a:avLst/>
          </a:prstGeom>
          <a:solidFill>
            <a:srgbClr val="DBEAFE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/>
          <p:cNvSpPr/>
          <p:nvPr/>
        </p:nvSpPr>
        <p:spPr>
          <a:xfrm>
            <a:off x="548640" y="45354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 clé : Le problème n'est pas l'absence d'évolution — c'est le manque de lisibilité du career path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3 — CAREER PATH CLARIFIÉ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clarifié + déploiement 9 semaines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3145536"/>
            <a:ext cx="1298448" cy="896112"/>
          </a:xfrm>
          <a:prstGeom prst="rect">
            <a:avLst/>
          </a:prstGeom>
          <a:solidFill>
            <a:srgbClr val="93C5FD"/>
          </a:solidFill>
          <a:ln/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314553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Junior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351129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accompagnée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801368" y="2907792"/>
            <a:ext cx="1481328" cy="1133856"/>
          </a:xfrm>
          <a:prstGeom prst="rect">
            <a:avLst/>
          </a:prstGeom>
          <a:solidFill>
            <a:srgbClr val="60A5FA"/>
          </a:solidFill>
          <a:ln/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1801368" y="290779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Confirmé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801368" y="3273552"/>
            <a:ext cx="1481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simple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74136" y="2670048"/>
            <a:ext cx="1481328" cy="1371600"/>
          </a:xfrm>
          <a:prstGeom prst="rect">
            <a:avLst/>
          </a:prstGeom>
          <a:solidFill>
            <a:srgbClr val="3B82F6"/>
          </a:solidFill>
          <a:ln/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374136" y="267004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Intermédiaire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374136" y="3035808"/>
            <a:ext cx="1481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complète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complexes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946904" y="2432304"/>
            <a:ext cx="1572768" cy="1609344"/>
          </a:xfrm>
          <a:prstGeom prst="rect">
            <a:avLst/>
          </a:prstGeom>
          <a:solidFill>
            <a:srgbClr val="2563EB"/>
          </a:solidFill>
          <a:ln/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946904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Senior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46904" y="2798064"/>
            <a:ext cx="15727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 métier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pairs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11112" y="2194560"/>
            <a:ext cx="1691640" cy="1847088"/>
          </a:xfrm>
          <a:prstGeom prst="rect">
            <a:avLst/>
          </a:prstGeom>
          <a:solidFill>
            <a:srgbClr val="1D4ED8"/>
          </a:solidFill>
          <a:ln/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611112" y="21945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Expert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611112" y="2560320"/>
            <a:ext cx="1691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transverse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B4B"/>
                </a:solidFill>
              </a:rPr>
              <a:t>Progression basée sur :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4462272"/>
            <a:ext cx="118872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11480" y="44622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Autonomie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709928" y="4462272"/>
            <a:ext cx="118872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1709928" y="44622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Complexité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008376" y="4462272"/>
            <a:ext cx="1188720" cy="34747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008376" y="44622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120640" y="1417320"/>
            <a:ext cx="3611880" cy="3520440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5120640" y="1417320"/>
            <a:ext cx="3611880" cy="41148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285232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Déploiement — 9 semaines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285232" y="1993392"/>
            <a:ext cx="502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5285232" y="19933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S1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852160" y="2011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terrain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001000" y="201168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285232" y="2468880"/>
            <a:ext cx="502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5285232" y="24688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S2-3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852160" y="2487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simplification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001000" y="248716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285232" y="2944368"/>
            <a:ext cx="502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5285232" y="2944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S4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852160" y="29626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managers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001000" y="2962656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285232" y="3419856"/>
            <a:ext cx="502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5285232" y="34198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S5-6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5852160" y="3438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finance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8001000" y="3438144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285232" y="3895344"/>
            <a:ext cx="502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6"/>
          <p:cNvSpPr/>
          <p:nvPr/>
        </p:nvSpPr>
        <p:spPr>
          <a:xfrm>
            <a:off x="5285232" y="38953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S7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5852160" y="3913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équipes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8001000" y="391363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285232" y="4370832"/>
            <a:ext cx="502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0"/>
          <p:cNvSpPr/>
          <p:nvPr/>
        </p:nvSpPr>
        <p:spPr>
          <a:xfrm>
            <a:off x="5285232" y="4370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S8-9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5852160" y="4389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managers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8001000" y="438912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3 — SEGMENTATION &amp; ÉVALUATION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métiers + système d'évaluation continu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1389888"/>
            <a:ext cx="2651760" cy="208483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2651760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11480" y="1389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Support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" y="1847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6072" y="20665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Résoudre rapidement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6072" y="2340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clés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76072" y="25420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Réactivité · Rigueur · Volume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76072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d'évolution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76072" y="32735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rapidité (satisfaction)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91840" y="1389888"/>
            <a:ext cx="2651760" cy="2084832"/>
          </a:xfrm>
          <a:prstGeom prst="rect">
            <a:avLst/>
          </a:prstGeom>
          <a:solidFill>
            <a:srgbClr val="EEF2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291840" y="1389888"/>
            <a:ext cx="2651760" cy="384048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3291840" y="1389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Onboarding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456432" y="1847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56432" y="20665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et structurer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456432" y="2340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clés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456432" y="25420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Pédagogie · Organisation · Adaptabilité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456432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d'évolution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456432" y="32735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&amp; structuration (adoption)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72200" y="1389888"/>
            <a:ext cx="2651760" cy="2084832"/>
          </a:xfrm>
          <a:prstGeom prst="rect">
            <a:avLst/>
          </a:prstGeom>
          <a:solidFill>
            <a:srgbClr val="F0F9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6172200" y="1389888"/>
            <a:ext cx="2651760" cy="38404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6172200" y="1389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Account Mgmt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336792" y="1847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336792" y="20665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Fidéliser &amp; développer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336792" y="2340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clés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336792" y="254203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client · Négociation · Analyse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336792" y="3063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d'évolution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336792" y="32735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business client (rétention)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3730752"/>
            <a:ext cx="4096512" cy="1207008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411480" y="3730752"/>
            <a:ext cx="4096512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566928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Suivi mensuel — 5 min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66928" y="41148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 : Qu'ai-je géré seul ? Quel cas complexe ? Quelle amélioration apportée ?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66928" y="446227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: valide ou ajuste en 2 min → progression tracée sans surcharge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636008" y="3730752"/>
            <a:ext cx="4096512" cy="1207008"/>
          </a:xfrm>
          <a:prstGeom prst="rect">
            <a:avLst/>
          </a:prstGeom>
          <a:solidFill>
            <a:srgbClr val="EEF2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7"/>
          <p:cNvSpPr/>
          <p:nvPr/>
        </p:nvSpPr>
        <p:spPr>
          <a:xfrm>
            <a:off x="4636008" y="3730752"/>
            <a:ext cx="4096512" cy="32004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4791456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Revue trimestrielle — 30 min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791456" y="41148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sur 4 critères : Autonomie · Complexité · Impact · Contribution équipe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791456" y="446227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: En développement / Acquis / Dépasse → décision d'évolution basée sur faits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347472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457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PARTIE 3 — GESTION DES RISQUES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risques à anticiper &amp; comment les gérer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11480" y="1389888"/>
            <a:ext cx="8321040" cy="1078992"/>
          </a:xfrm>
          <a:prstGeom prst="rect">
            <a:avLst/>
          </a:prstGeom>
          <a:solidFill>
            <a:srgbClr val="FEF2F2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73152" cy="107899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502920" y="1389888"/>
            <a:ext cx="2743200" cy="107899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94360" y="14630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1801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non honorées si Finance ne suit pas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73552" y="1737360"/>
            <a:ext cx="347472" cy="347472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3273552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767328" y="1591056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3895344" y="1536192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 Finance AVANT la communication équipes (étape S5-6 du déploiement)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67328" y="190195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895344" y="184708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le message : le career path clarifie les niveaux, les revalorisations suivent un processus distinct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67328" y="2212848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3895344" y="215798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explicitement 'clarté du parcours' et 'promesse d'augmentation'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2560320"/>
            <a:ext cx="8321040" cy="1078992"/>
          </a:xfrm>
          <a:prstGeom prst="rect">
            <a:avLst/>
          </a:prstGeom>
          <a:solidFill>
            <a:srgbClr val="FFFBEB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411480" y="2560320"/>
            <a:ext cx="73152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502920" y="2560320"/>
            <a:ext cx="2743200" cy="1078992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94360" y="26334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9436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managers à formaliser les critères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73552" y="2907792"/>
            <a:ext cx="347472" cy="347472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3273552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767328" y="2761488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3895344" y="2706624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Co-construire les critères avec les managers (pas imposer) — ateliers dédiés semaine S4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767328" y="307238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3895344" y="3017520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leurs cas concrets : 'qu'est-ce qui vous a fait passer quelqu'un Senior ?'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767328" y="3383280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3895344" y="3328416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donner un guide simple d'utilisation — le career path devient leur outil, pas une contrainte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11480" y="3730752"/>
            <a:ext cx="8321040" cy="1078992"/>
          </a:xfrm>
          <a:prstGeom prst="rect">
            <a:avLst/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1"/>
          <p:cNvSpPr/>
          <p:nvPr/>
        </p:nvSpPr>
        <p:spPr>
          <a:xfrm>
            <a:off x="411480" y="3730752"/>
            <a:ext cx="73152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02920" y="3730752"/>
            <a:ext cx="2743200" cy="107899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594360" y="38039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94360" y="41422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trop uniforme pour métiers très différents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73552" y="4078224"/>
            <a:ext cx="347472" cy="347472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6"/>
          <p:cNvSpPr/>
          <p:nvPr/>
        </p:nvSpPr>
        <p:spPr>
          <a:xfrm>
            <a:off x="3273552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767328" y="3931920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3895344" y="3877056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commun (5 niveaux) + critères d'évaluation adaptés par métier (Support / Onboarding / AM)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767328" y="4242816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0"/>
          <p:cNvSpPr/>
          <p:nvPr/>
        </p:nvSpPr>
        <p:spPr>
          <a:xfrm>
            <a:off x="3895344" y="4187952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validée avec les managers de chaque périmètre avant déploiement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767328" y="4553712"/>
            <a:ext cx="82296" cy="8229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2"/>
          <p:cNvSpPr/>
          <p:nvPr/>
        </p:nvSpPr>
        <p:spPr>
          <a:xfrm>
            <a:off x="3895344" y="449884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d'appliquer les mêmes KPIs : volume ≠ pédagogie ≠ rétention client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11480" y="4919472"/>
            <a:ext cx="8321040" cy="292608"/>
          </a:xfrm>
          <a:prstGeom prst="rect">
            <a:avLst/>
          </a:prstGeom>
          <a:solidFill>
            <a:srgbClr val="DBEAFE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4"/>
          <p:cNvSpPr/>
          <p:nvPr/>
        </p:nvSpPr>
        <p:spPr>
          <a:xfrm>
            <a:off x="530352" y="493776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Principe clé : co-construire avec les managers, aligner la finance en amont, adapter par métier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132320" y="2560320"/>
            <a:ext cx="2926080" cy="2926080"/>
          </a:xfrm>
          <a:prstGeom prst="ellipse">
            <a:avLst/>
          </a:prstGeom>
          <a:solidFill>
            <a:srgbClr val="4338CA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0" y="3474720"/>
            <a:ext cx="1828800" cy="1828800"/>
          </a:xfrm>
          <a:prstGeom prst="ellipse">
            <a:avLst/>
          </a:prstGeom>
          <a:solidFill>
            <a:srgbClr val="93C5FD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8288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7190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chantiers, 1 cap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457200" y="2724912"/>
            <a:ext cx="8229600" cy="676656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7200" y="2724912"/>
            <a:ext cx="91440" cy="6766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58368" y="2761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Pulse Survey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" y="307238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solides — agir vite sur charge, management &amp; reconnaissance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8229600" cy="676656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57200" y="3474720"/>
            <a:ext cx="91440" cy="6766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58368" y="35112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Mobilité internationale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" y="382219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structuré, mécanismes de protection, expérience humaine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224528"/>
            <a:ext cx="8229600" cy="676656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57200" y="4224528"/>
            <a:ext cx="91440" cy="6766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58368" y="42611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🛤️  Career Path Ops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" y="45720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Lisibilité, critères basés sur contribution réelle, suivi continu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1283</Words>
  <Application>Microsoft Office PowerPoint</Application>
  <PresentationFormat>Affichage à l'écran (16:9)</PresentationFormat>
  <Paragraphs>320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Lucie CARETTI</cp:lastModifiedBy>
  <cp:revision>2</cp:revision>
  <dcterms:created xsi:type="dcterms:W3CDTF">2026-05-01T08:57:48Z</dcterms:created>
  <dcterms:modified xsi:type="dcterms:W3CDTF">2026-05-01T09:42:06Z</dcterms:modified>
</cp:coreProperties>
</file>